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02B38"/>
                </a:solidFill>
                <a:latin typeface="Aptos Display"/>
              </a:rPr>
              <a:t>From Ecological Networks to Interpretable Structure, Prediction, and Repair</a:t>
            </a:r>
          </a:p>
        </p:txBody>
      </p:sp>
      <p:sp>
        <p:nvSpPr>
          <p:cNvPr id="3" name="Chevron 2"/>
          <p:cNvSpPr/>
          <p:nvPr/>
        </p:nvSpPr>
        <p:spPr>
          <a:xfrm>
            <a:off x="749808" y="914400"/>
            <a:ext cx="3200400" cy="329184"/>
          </a:xfrm>
          <a:prstGeom prst="chevron">
            <a:avLst/>
          </a:prstGeom>
          <a:solidFill>
            <a:srgbClr val="E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30540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06872"/>
                </a:solidFill>
                <a:latin typeface="Aptos"/>
              </a:rPr>
              <a:t>1. 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4498848" y="914400"/>
            <a:ext cx="3200400" cy="329184"/>
          </a:xfrm>
          <a:prstGeom prst="chevron">
            <a:avLst/>
          </a:prstGeom>
          <a:solidFill>
            <a:srgbClr val="E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987552"/>
            <a:ext cx="30540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06872"/>
                </a:solidFill>
                <a:latin typeface="Aptos"/>
              </a:rPr>
              <a:t>2. Validate</a:t>
            </a:r>
          </a:p>
        </p:txBody>
      </p:sp>
      <p:sp>
        <p:nvSpPr>
          <p:cNvPr id="7" name="Chevron 6"/>
          <p:cNvSpPr/>
          <p:nvPr/>
        </p:nvSpPr>
        <p:spPr>
          <a:xfrm>
            <a:off x="8247888" y="914400"/>
            <a:ext cx="3200400" cy="329184"/>
          </a:xfrm>
          <a:prstGeom prst="chevron">
            <a:avLst/>
          </a:prstGeom>
          <a:solidFill>
            <a:srgbClr val="E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987552"/>
            <a:ext cx="30540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06872"/>
                </a:solidFill>
                <a:latin typeface="Aptos"/>
              </a:rPr>
              <a:t>3.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21395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3E444E"/>
                </a:solidFill>
                <a:latin typeface="Aptos"/>
              </a:rPr>
              <a:t>Search with ecologists for the decomposition that captures the key ecological motif.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" y="1937004"/>
            <a:ext cx="3017520" cy="769620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1408176" y="2066543"/>
            <a:ext cx="347472" cy="292609"/>
          </a:xfrm>
          <a:prstGeom prst="line">
            <a:avLst/>
          </a:prstGeom>
          <a:ln w="2794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55648" y="2066543"/>
            <a:ext cx="265176" cy="420625"/>
          </a:xfrm>
          <a:prstGeom prst="line">
            <a:avLst/>
          </a:prstGeom>
          <a:ln w="2794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08176" y="2359152"/>
            <a:ext cx="612648" cy="128016"/>
          </a:xfrm>
          <a:prstGeom prst="line">
            <a:avLst/>
          </a:prstGeom>
          <a:ln w="2794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679191" y="2066543"/>
            <a:ext cx="347473" cy="292609"/>
          </a:xfrm>
          <a:prstGeom prst="line">
            <a:avLst/>
          </a:prstGeom>
          <a:ln w="2794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26664" y="2066543"/>
            <a:ext cx="265175" cy="420625"/>
          </a:xfrm>
          <a:prstGeom prst="line">
            <a:avLst/>
          </a:prstGeom>
          <a:ln w="2794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79191" y="2359152"/>
            <a:ext cx="612648" cy="128016"/>
          </a:xfrm>
          <a:prstGeom prst="line">
            <a:avLst/>
          </a:prstGeom>
          <a:ln w="2794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20824" y="2359152"/>
            <a:ext cx="658367" cy="128016"/>
          </a:xfrm>
          <a:prstGeom prst="line">
            <a:avLst/>
          </a:prstGeom>
          <a:ln w="38100">
            <a:solidFill>
              <a:srgbClr val="DD8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335024" y="2286000"/>
            <a:ext cx="146304" cy="146304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682495" y="1993391"/>
            <a:ext cx="146304" cy="146304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47672" y="2414016"/>
            <a:ext cx="146304" cy="146304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06039" y="2286000"/>
            <a:ext cx="146304" cy="146304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53512" y="1993391"/>
            <a:ext cx="146304" cy="146304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218687" y="2414016"/>
            <a:ext cx="146304" cy="146304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26893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>
                <a:solidFill>
                  <a:srgbClr val="6B727C"/>
                </a:solidFill>
                <a:latin typeface="Aptos"/>
              </a:rPr>
              <a:t>Candidate decompositions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" y="3035808"/>
            <a:ext cx="868680" cy="274320"/>
          </a:xfrm>
          <a:prstGeom prst="roundRect">
            <a:avLst/>
          </a:prstGeom>
          <a:solidFill>
            <a:srgbClr val="7C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3081528"/>
            <a:ext cx="868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clique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3035808"/>
            <a:ext cx="868680" cy="274320"/>
          </a:xfrm>
          <a:prstGeom prst="roundRect">
            <a:avLst/>
          </a:prstGeom>
          <a:solidFill>
            <a:srgbClr val="4A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20240" y="3081528"/>
            <a:ext cx="868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bridge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53512" y="3035808"/>
            <a:ext cx="1082460" cy="274320"/>
          </a:xfrm>
          <a:prstGeom prst="roundRect">
            <a:avLst/>
          </a:prstGeom>
          <a:solidFill>
            <a:srgbClr val="DD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53512" y="3060980"/>
            <a:ext cx="10824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Aptos"/>
              </a:rPr>
              <a:t>clique+bridge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6968" y="354787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02B38"/>
                </a:solidFill>
                <a:latin typeface="Aptos"/>
              </a:rPr>
              <a:t>discrete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3666744"/>
            <a:ext cx="557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6B727C"/>
                </a:solidFill>
                <a:latin typeface="Aptos"/>
              </a:rPr>
              <a:t>&lt;-&gt;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82596" y="3594118"/>
            <a:ext cx="1234440" cy="384048"/>
          </a:xfrm>
          <a:prstGeom prst="roundRect">
            <a:avLst/>
          </a:prstGeom>
          <a:solidFill>
            <a:srgbClr val="ECF0F3"/>
          </a:solidFill>
          <a:ln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32888" y="3566160"/>
            <a:ext cx="1143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02B38"/>
                </a:solidFill>
                <a:latin typeface="Aptos"/>
              </a:rPr>
              <a:t>ecologist feedback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" y="4302094"/>
            <a:ext cx="3200400" cy="804672"/>
          </a:xfrm>
          <a:prstGeom prst="round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" y="431596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D842E"/>
                </a:solidFill>
                <a:latin typeface="Aptos"/>
              </a:rPr>
              <a:t>Identify the bridge motif that ecologists recognise as meaningful.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128751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3E444E"/>
                </a:solidFill>
                <a:latin typeface="Aptos"/>
              </a:rPr>
              <a:t>Treat each decomposition as a hypothesis and test what it predicts.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17684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dirty="0">
                <a:solidFill>
                  <a:srgbClr val="6B727C"/>
                </a:solidFill>
                <a:latin typeface="Aptos"/>
              </a:rPr>
              <a:t>Same interpretation across multiple networks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49140" y="2207909"/>
            <a:ext cx="3054096" cy="868680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 flipV="1">
            <a:off x="4718303" y="2194560"/>
            <a:ext cx="201169" cy="12801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919472" y="2194560"/>
            <a:ext cx="73152" cy="21945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18303" y="2322576"/>
            <a:ext cx="274321" cy="91440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230368" y="2194560"/>
            <a:ext cx="201168" cy="12801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431536" y="2194560"/>
            <a:ext cx="73152" cy="21945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30368" y="2322576"/>
            <a:ext cx="274320" cy="91440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92624" y="2322576"/>
            <a:ext cx="237744" cy="91440"/>
          </a:xfrm>
          <a:prstGeom prst="line">
            <a:avLst/>
          </a:prstGeom>
          <a:ln w="27940">
            <a:solidFill>
              <a:srgbClr val="DD8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672583" y="2276856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73752" y="2148840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946904" y="2368296"/>
            <a:ext cx="91440" cy="9144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184648" y="2276856"/>
            <a:ext cx="91440" cy="9144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385816" y="2148840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458968" y="2368296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 flipV="1">
            <a:off x="5696712" y="2194560"/>
            <a:ext cx="201168" cy="12801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897880" y="2194560"/>
            <a:ext cx="73152" cy="21945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696712" y="2322576"/>
            <a:ext cx="274320" cy="91440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208776" y="2194560"/>
            <a:ext cx="201168" cy="12801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09944" y="2194560"/>
            <a:ext cx="73152" cy="21945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208776" y="2322576"/>
            <a:ext cx="274320" cy="91440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971032" y="2322576"/>
            <a:ext cx="237744" cy="91440"/>
          </a:xfrm>
          <a:prstGeom prst="line">
            <a:avLst/>
          </a:prstGeom>
          <a:ln w="27940">
            <a:solidFill>
              <a:srgbClr val="DD8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650992" y="2276856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852160" y="2148840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925312" y="2368296"/>
            <a:ext cx="91440" cy="9144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163056" y="2276856"/>
            <a:ext cx="91440" cy="9144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364224" y="2148840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437376" y="2368296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 flipV="1">
            <a:off x="6675120" y="2194560"/>
            <a:ext cx="201168" cy="12801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876288" y="2194560"/>
            <a:ext cx="73152" cy="21945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675120" y="2322576"/>
            <a:ext cx="274320" cy="91440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187184" y="2194560"/>
            <a:ext cx="201168" cy="12801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388352" y="2194560"/>
            <a:ext cx="73152" cy="219456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187184" y="2322576"/>
            <a:ext cx="274320" cy="91440"/>
          </a:xfrm>
          <a:prstGeom prst="line">
            <a:avLst/>
          </a:prstGeom>
          <a:ln w="1778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49440" y="2322576"/>
            <a:ext cx="237744" cy="91440"/>
          </a:xfrm>
          <a:prstGeom prst="line">
            <a:avLst/>
          </a:prstGeom>
          <a:ln w="27940">
            <a:solidFill>
              <a:srgbClr val="DD8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6629400" y="2276856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30568" y="2148840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903720" y="2368296"/>
            <a:ext cx="91440" cy="9144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7141464" y="2276856"/>
            <a:ext cx="91440" cy="9144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7342631" y="2148840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415783" y="2368296"/>
            <a:ext cx="91440" cy="9144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63440" y="2761488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B727C"/>
                </a:solidFill>
                <a:latin typeface="Aptos"/>
              </a:rPr>
              <a:t>instance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41848" y="2761488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B727C"/>
                </a:solidFill>
                <a:latin typeface="Aptos"/>
              </a:rPr>
              <a:t>instance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20256" y="2761488"/>
            <a:ext cx="804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B727C"/>
                </a:solidFill>
                <a:latin typeface="Aptos"/>
              </a:rPr>
              <a:t>instance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08576" y="312724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B727C"/>
                </a:solidFill>
                <a:latin typeface="Aptos"/>
              </a:rPr>
              <a:t>Outcome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08518" y="3547872"/>
            <a:ext cx="1170432" cy="56692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663440" y="3575304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B38"/>
                </a:solidFill>
                <a:latin typeface="Aptos"/>
              </a:rPr>
              <a:t>dispersal rate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33872" y="3584448"/>
            <a:ext cx="3749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6B727C"/>
                </a:solidFill>
                <a:latin typeface="Aptos"/>
              </a:rPr>
              <a:t>-&gt;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45936" y="3127248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B727C"/>
                </a:solidFill>
                <a:latin typeface="Aptos"/>
              </a:rPr>
              <a:t>Predictive score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63056" y="3364992"/>
            <a:ext cx="141732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27648" y="3547872"/>
            <a:ext cx="256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E56"/>
                </a:solidFill>
                <a:latin typeface="Aptos"/>
              </a:rPr>
              <a:t>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0" y="3566160"/>
            <a:ext cx="548640" cy="91440"/>
          </a:xfrm>
          <a:prstGeom prst="rect">
            <a:avLst/>
          </a:prstGeom>
          <a:solidFill>
            <a:srgbClr val="A7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27648" y="3776472"/>
            <a:ext cx="256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E56"/>
                </a:solidFill>
                <a:latin typeface="Aptos"/>
              </a:rPr>
              <a:t>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0" y="3794760"/>
            <a:ext cx="914400" cy="91440"/>
          </a:xfrm>
          <a:prstGeom prst="rect">
            <a:avLst/>
          </a:prstGeom>
          <a:solidFill>
            <a:srgbClr val="28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534655" y="3767328"/>
            <a:ext cx="61086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287F5E"/>
                </a:solidFill>
                <a:latin typeface="Aptos"/>
              </a:rPr>
              <a:t>best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27648" y="4005072"/>
            <a:ext cx="256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E56"/>
                </a:solidFill>
                <a:latin typeface="Aptos"/>
              </a:rPr>
              <a:t>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83680" y="4023360"/>
            <a:ext cx="694944" cy="91440"/>
          </a:xfrm>
          <a:prstGeom prst="rect">
            <a:avLst/>
          </a:prstGeom>
          <a:solidFill>
            <a:srgbClr val="A7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4498848" y="4302094"/>
            <a:ext cx="3200400" cy="804672"/>
          </a:xfrm>
          <a:prstGeom prst="roundRect">
            <a:avLst/>
          </a:prstGeom>
          <a:solidFill>
            <a:srgbClr val="EB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626864" y="431596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287F5E"/>
                </a:solidFill>
                <a:latin typeface="Aptos"/>
              </a:rPr>
              <a:t>The best predictive interpretation is the strongest structural hypothesis.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47888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3E444E"/>
                </a:solidFill>
                <a:latin typeface="Aptos"/>
              </a:rPr>
              <a:t>Use the winning structure to constrain completion, repair, and intervention.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39327" y="181051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B727C"/>
                </a:solidFill>
                <a:latin typeface="Aptos"/>
              </a:rPr>
              <a:t>Damaged network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68128" y="181051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B727C"/>
                </a:solidFill>
                <a:latin typeface="Aptos"/>
              </a:rPr>
              <a:t>Repaired network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93608" y="1993392"/>
            <a:ext cx="3108960" cy="914400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8540496" y="2103120"/>
            <a:ext cx="347471" cy="292608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887967" y="2103120"/>
            <a:ext cx="265177" cy="420624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540496" y="2395728"/>
            <a:ext cx="612648" cy="128016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436608" y="2103120"/>
            <a:ext cx="347472" cy="292608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84080" y="2103120"/>
            <a:ext cx="265176" cy="420624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436608" y="2395728"/>
            <a:ext cx="612648" cy="128016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8471916" y="2327148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8819388" y="2034539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9084564" y="2455163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9368028" y="2327148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9715500" y="2034539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9980676" y="2455163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26880" y="2359152"/>
            <a:ext cx="437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6B727C"/>
                </a:solidFill>
                <a:latin typeface="Aptos"/>
              </a:rPr>
              <a:t>-&gt;</a:t>
            </a:r>
          </a:p>
        </p:txBody>
      </p:sp>
      <p:cxnSp>
        <p:nvCxnSpPr>
          <p:cNvPr id="114" name="Connector 113"/>
          <p:cNvCxnSpPr/>
          <p:nvPr/>
        </p:nvCxnSpPr>
        <p:spPr>
          <a:xfrm flipV="1">
            <a:off x="9646919" y="2103120"/>
            <a:ext cx="347473" cy="292608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994392" y="2103120"/>
            <a:ext cx="265175" cy="420624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646919" y="2395728"/>
            <a:ext cx="612648" cy="128016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0826496" y="2103120"/>
            <a:ext cx="347471" cy="292608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1173967" y="2103120"/>
            <a:ext cx="265177" cy="420624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826496" y="2395728"/>
            <a:ext cx="612648" cy="128016"/>
          </a:xfrm>
          <a:prstGeom prst="line">
            <a:avLst/>
          </a:prstGeom>
          <a:ln w="24130">
            <a:solidFill>
              <a:srgbClr val="8E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0259567" y="2395728"/>
            <a:ext cx="566929" cy="128016"/>
          </a:xfrm>
          <a:prstGeom prst="line">
            <a:avLst/>
          </a:prstGeom>
          <a:ln w="34290">
            <a:solidFill>
              <a:srgbClr val="DD8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9578340" y="2327148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9925812" y="2034539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0190988" y="2455163"/>
            <a:ext cx="137160" cy="13716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0757916" y="2327148"/>
            <a:ext cx="137160" cy="137160"/>
          </a:xfrm>
          <a:prstGeom prst="ellipse">
            <a:avLst/>
          </a:prstGeom>
          <a:solidFill>
            <a:srgbClr val="DD842E"/>
          </a:solidFill>
          <a:ln w="12700">
            <a:solidFill>
              <a:srgbClr val="DD8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1105388" y="2034539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1370564" y="2455163"/>
            <a:ext cx="137160" cy="137160"/>
          </a:xfrm>
          <a:prstGeom prst="ellipse">
            <a:avLst/>
          </a:prstGeom>
          <a:solidFill>
            <a:srgbClr val="5F6670"/>
          </a:solidFill>
          <a:ln w="1270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247888" y="312724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3E444E"/>
                </a:solidFill>
                <a:latin typeface="Aptos"/>
              </a:rPr>
              <a:t>Constrain generation so the bridge motif is restored or preserved.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247888" y="4302094"/>
            <a:ext cx="3200400" cy="804672"/>
          </a:xfrm>
          <a:prstGeom prst="roundRect">
            <a:avLst/>
          </a:prstGeom>
          <a:solidFill>
            <a:srgbClr val="EB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375904" y="431596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87F5E"/>
                </a:solidFill>
                <a:latin typeface="Aptos"/>
              </a:rPr>
              <a:t>Use structure-guided generation to complete, repair, or improve ecological networks.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49808" y="6144768"/>
            <a:ext cx="10698480" cy="402336"/>
          </a:xfrm>
          <a:prstGeom prst="round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60120" y="6254496"/>
            <a:ext cx="10277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02B38"/>
                </a:solidFill>
                <a:latin typeface="Aptos"/>
              </a:rPr>
              <a:t>Search with experts -&gt; validate by prediction -&gt; repair and design with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153</Words>
  <Application>Microsoft Macintosh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Fabrizio Costa</cp:lastModifiedBy>
  <cp:revision>2</cp:revision>
  <dcterms:created xsi:type="dcterms:W3CDTF">2013-01-27T09:14:16Z</dcterms:created>
  <dcterms:modified xsi:type="dcterms:W3CDTF">2026-03-29T22:45:58Z</dcterms:modified>
  <cp:category/>
</cp:coreProperties>
</file>